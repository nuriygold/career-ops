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498080" y="-365760"/>
            <a:ext cx="2286000" cy="2286000"/>
          </a:xfrm>
          <a:prstGeom prst="rect">
            <a:avLst/>
          </a:prstGeom>
          <a:solidFill>
            <a:srgbClr val="24307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Aaliya Bashir, MPA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8C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Program &amp; Operations Leader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5029200" cy="36576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years translating complex data, systems, and stakeholder needs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clear business decisions and measurable organizational value.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Atlanta, GA   |   bashiraaliya@gmail.com   |   +1 678-594-1031   |   linkedin.com/in/aaliya-bashir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457200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C49A2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572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91640" y="457200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C49A22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4572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5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C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dirty="0">
                <a:solidFill>
                  <a:srgbClr val="C49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772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program and operations leader with 16+ years of experience translating complex data, systems, and stakeholder needs into clear business decisions.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strengths in executive storytelling, dashboard development, process improvement, cross-functional project leadership, enterprise change management, and sustainability-focused program execution.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supporting Total Rewards and labor optimization in healthcare — with a Harvard-backed sustainability and innovation lens that strengthens ESG-oriented strategy, stakeholder alignment, and operational execution.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 bringing structure to ambiguity, leading through influence, and helping smart teams move critical work forward.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C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STRENGTHS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914400"/>
            <a:ext cx="1664208" cy="1417320"/>
          </a:xfrm>
          <a:prstGeom prst="rect">
            <a:avLst/>
          </a:prstGeom>
          <a:solidFill>
            <a:srgbClr val="243070"/>
          </a:solidFill>
          <a:ln w="12700">
            <a:solidFill>
              <a:srgbClr val="2D3D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914400"/>
            <a:ext cx="1664208" cy="54864"/>
          </a:xfrm>
          <a:prstGeom prst="rect">
            <a:avLst/>
          </a:prstGeom>
          <a:solidFill>
            <a:srgbClr val="C49A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" y="10789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" y="146304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ESG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1168" y="18745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Harvard-backed sustainability and innovation lens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847088" y="914400"/>
            <a:ext cx="1664208" cy="1417320"/>
          </a:xfrm>
          <a:prstGeom prst="rect">
            <a:avLst/>
          </a:prstGeom>
          <a:solidFill>
            <a:srgbClr val="243070"/>
          </a:solidFill>
          <a:ln w="12700">
            <a:solidFill>
              <a:srgbClr val="2D3D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47088" y="914400"/>
            <a:ext cx="1664208" cy="54864"/>
          </a:xfrm>
          <a:prstGeom prst="rect">
            <a:avLst/>
          </a:prstGeom>
          <a:solidFill>
            <a:srgbClr val="C49A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6" y="107899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11096" y="146304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Rewards Analytics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911096" y="18745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workforce, and ROI storytelling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557016" y="914400"/>
            <a:ext cx="1664208" cy="1417320"/>
          </a:xfrm>
          <a:prstGeom prst="rect">
            <a:avLst/>
          </a:prstGeom>
          <a:solidFill>
            <a:srgbClr val="243070"/>
          </a:solidFill>
          <a:ln w="12700">
            <a:solidFill>
              <a:srgbClr val="2D3D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914400"/>
            <a:ext cx="1664208" cy="54864"/>
          </a:xfrm>
          <a:prstGeom prst="rect">
            <a:avLst/>
          </a:prstGeom>
          <a:solidFill>
            <a:srgbClr val="C49A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107899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21024" y="146304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Communication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621024" y="18745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presentations and stakeholder alignment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266944" y="914400"/>
            <a:ext cx="1664208" cy="1417320"/>
          </a:xfrm>
          <a:prstGeom prst="rect">
            <a:avLst/>
          </a:prstGeom>
          <a:solidFill>
            <a:srgbClr val="243070"/>
          </a:solidFill>
          <a:ln w="12700">
            <a:solidFill>
              <a:srgbClr val="2D3D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266944" y="914400"/>
            <a:ext cx="1664208" cy="54864"/>
          </a:xfrm>
          <a:prstGeom prst="rect">
            <a:avLst/>
          </a:prstGeom>
          <a:solidFill>
            <a:srgbClr val="C49A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107899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30952" y="146304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Management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330952" y="18745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 certified, cross-functional delivery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976872" y="914400"/>
            <a:ext cx="1664208" cy="1417320"/>
          </a:xfrm>
          <a:prstGeom prst="rect">
            <a:avLst/>
          </a:prstGeom>
          <a:solidFill>
            <a:srgbClr val="243070"/>
          </a:solidFill>
          <a:ln w="12700">
            <a:solidFill>
              <a:srgbClr val="2D3D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76872" y="914400"/>
            <a:ext cx="1664208" cy="54864"/>
          </a:xfrm>
          <a:prstGeom prst="rect">
            <a:avLst/>
          </a:prstGeom>
          <a:solidFill>
            <a:srgbClr val="C49A2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07899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40880" y="146304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Tableau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040880" y="18745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datasets, trend analysis, dashboards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137160" y="2423160"/>
            <a:ext cx="1664208" cy="1417320"/>
          </a:xfrm>
          <a:prstGeom prst="rect">
            <a:avLst/>
          </a:prstGeom>
          <a:solidFill>
            <a:srgbClr val="243070"/>
          </a:solidFill>
          <a:ln w="12700">
            <a:solidFill>
              <a:srgbClr val="2D3D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37160" y="2423160"/>
            <a:ext cx="1664208" cy="54864"/>
          </a:xfrm>
          <a:prstGeom prst="rect">
            <a:avLst/>
          </a:prstGeom>
          <a:solidFill>
            <a:srgbClr val="C49A2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" y="258775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01168" y="297180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Design &amp; Automation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201168" y="33832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improvement, SQL, PowerQuery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1847088" y="2423160"/>
            <a:ext cx="1664208" cy="1417320"/>
          </a:xfrm>
          <a:prstGeom prst="rect">
            <a:avLst/>
          </a:prstGeom>
          <a:solidFill>
            <a:srgbClr val="243070"/>
          </a:solidFill>
          <a:ln w="12700">
            <a:solidFill>
              <a:srgbClr val="2D3D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847088" y="2423160"/>
            <a:ext cx="1664208" cy="54864"/>
          </a:xfrm>
          <a:prstGeom prst="rect">
            <a:avLst/>
          </a:prstGeom>
          <a:solidFill>
            <a:srgbClr val="C49A22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6816" y="2587752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911096" y="297180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Leadership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1911096" y="33832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change management and influence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3557016" y="2423160"/>
            <a:ext cx="1664208" cy="1417320"/>
          </a:xfrm>
          <a:prstGeom prst="rect">
            <a:avLst/>
          </a:prstGeom>
          <a:solidFill>
            <a:srgbClr val="243070"/>
          </a:solidFill>
          <a:ln w="12700">
            <a:solidFill>
              <a:srgbClr val="2D3D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557016" y="2423160"/>
            <a:ext cx="1664208" cy="54864"/>
          </a:xfrm>
          <a:prstGeom prst="rect">
            <a:avLst/>
          </a:prstGeom>
          <a:solidFill>
            <a:srgbClr val="C49A22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6744" y="2587752"/>
            <a:ext cx="347472" cy="34747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621024" y="297180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Stakeholder Engagement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3621024" y="33832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management and governance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5266944" y="2423160"/>
            <a:ext cx="1664208" cy="1417320"/>
          </a:xfrm>
          <a:prstGeom prst="rect">
            <a:avLst/>
          </a:prstGeom>
          <a:solidFill>
            <a:srgbClr val="243070"/>
          </a:solidFill>
          <a:ln w="12700">
            <a:solidFill>
              <a:srgbClr val="2D3D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5266944" y="2423160"/>
            <a:ext cx="1664208" cy="54864"/>
          </a:xfrm>
          <a:prstGeom prst="rect">
            <a:avLst/>
          </a:prstGeom>
          <a:solidFill>
            <a:srgbClr val="C49A22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6672" y="2587752"/>
            <a:ext cx="347472" cy="34747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330952" y="297180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&amp; Waterfall Delivery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5330952" y="33832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certified, complex project execution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6976872" y="2423160"/>
            <a:ext cx="1664208" cy="1417320"/>
          </a:xfrm>
          <a:prstGeom prst="rect">
            <a:avLst/>
          </a:prstGeom>
          <a:solidFill>
            <a:srgbClr val="243070"/>
          </a:solidFill>
          <a:ln w="12700">
            <a:solidFill>
              <a:srgbClr val="2D3D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6976872" y="2423160"/>
            <a:ext cx="1664208" cy="54864"/>
          </a:xfrm>
          <a:prstGeom prst="rect">
            <a:avLst/>
          </a:prstGeom>
          <a:solidFill>
            <a:srgbClr val="C49A22"/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587752"/>
            <a:ext cx="347472" cy="347472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7040880" y="297180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Strategy</a:t>
            </a:r>
            <a:endParaRPr lang="en-US" sz="1100" dirty="0"/>
          </a:p>
        </p:txBody>
      </p:sp>
      <p:sp>
        <p:nvSpPr>
          <p:cNvPr id="53" name="Text 41"/>
          <p:cNvSpPr/>
          <p:nvPr/>
        </p:nvSpPr>
        <p:spPr>
          <a:xfrm>
            <a:off x="7040880" y="33832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value creation and operational rigor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5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C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C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1A255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C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Wellstar Health System — Atlanta, GA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Program Manager - Total Rewards  |  Jan 2025 – Present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8229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enterprise Total Rewards and Labor Optimization work, synthesizing complex people-program data into dashboards, presentations, and leadership-ready insights.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executive storytelling materials connecting benefits and workforce initiatives to ROI, utilization, operational impact, and employee experience.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Power BI, Tableau, SQL, Excel, and PowerQuery to analyze large datasets, surface trends, and improve the speed and quality of decision-making.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across multiple stakeholders to streamline reporting, reduce data silos, and create repeatable processes that improve visibility across teams.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as a connector between technical, operational, and leadership audiences — translating business questions into actionable analysis and next-step recommendations.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663440"/>
            <a:ext cx="2651760" cy="45720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 Years Experience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72968" y="4663440"/>
            <a:ext cx="2651760" cy="45720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12" name="Text 10"/>
          <p:cNvSpPr/>
          <p:nvPr/>
        </p:nvSpPr>
        <p:spPr>
          <a:xfrm>
            <a:off x="3172968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Analytics Tools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0176" y="4663440"/>
            <a:ext cx="2651760" cy="45720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14" name="Text 12"/>
          <p:cNvSpPr/>
          <p:nvPr/>
        </p:nvSpPr>
        <p:spPr>
          <a:xfrm>
            <a:off x="5980176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Current Role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5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C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C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1A255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C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Harvard Medical School — Remote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  |  Jan 2023 – Jan 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8229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 complex, multi-stakeholder academic medicine initiative with a record-setting $4.5M budget supporting clinical faculty investment and program redesign.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10+ institutions, hospital partners, educators, and internal stakeholders around timelines, governance, communications, and execution milestones.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sustainability and innovation perspective to large-scale program design, balancing institutional priorities, long-range value creation, and operational rigor.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operating rhythms, decision frameworks, and communication plans that reduced ambiguity and kept high-visibility work moving to completion.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politically sensitive priorities with tact and structure, ensuring the right stakeholders had the right information at the right time.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663440"/>
            <a:ext cx="8412480" cy="45720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$4.5M Budget  |  10+ Partner Institutions  |  Harvard Certificate in Corporate Sustainability &amp; Innovation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5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C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C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91440" cy="10241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Ideagen DevonWay — Remote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Project Manager  |  Nov 2022 – Jan 2024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4996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high-visibility software implementations for DOE and defense clients ($245K–$2.2M budgets).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755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customer satisfaction 25% as primary client contact for scope, schedule, and issue resolution.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technical requirements into practical business decisions with strong executive communication.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68296"/>
            <a:ext cx="91440" cy="1024128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331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Warrior Body Spa — Tucker, GA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25877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Operations  |  2014 – 2022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8254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operations, systems, and team performance for a growing wellness business.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081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satisfaction 34% within six months; managed and trained a 17-member team.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process improvements across CRM, marketing, scheduling, and service workflows.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91440" cy="768096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657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KSW Real Estate — Atlanta, GA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39136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Manager, Real Estate Operations  |  2010 – 2014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4151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five-year roadmap contributing to more than $14M in savings and cost avoidance.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350% portfolio growth, scaling from two to seven properties through disciplined execution.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5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C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&amp; TECHNICAL TOOLS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840480"/>
          </a:xfrm>
          <a:prstGeom prst="rect">
            <a:avLst/>
          </a:prstGeom>
          <a:solidFill>
            <a:srgbClr val="1A255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&amp; CREDENTIALS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840480" cy="36576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Certificate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University — Corporate Sustainability &amp; Innovation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Public Administration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Augusta University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843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Arts, Philosophy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18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 College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465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 — Project Management Professional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39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087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— Certified ScrumMaster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361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Alliance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F8F9FC"/>
          </a:solidFill>
          <a:ln w="12700">
            <a:solidFill>
              <a:srgbClr val="D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TOOLS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508760"/>
            <a:ext cx="3840480" cy="36576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600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1856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Tableau, SQL, Excel, PowerQuery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203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2459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Confluence, Asana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807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Systems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ERP/CRM platforms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410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3666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PowerPoint, Visio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0142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54880" y="4270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and Waterfall methodologies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486400" cy="36576"/>
          </a:xfrm>
          <a:prstGeom prst="rect">
            <a:avLst/>
          </a:prstGeom>
          <a:solidFill>
            <a:srgbClr val="C49A2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C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Aaliya Bashir, MPA  |  PMP  |  CSM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bashiraaliya@gmail.com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+1 678-594-1031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474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linkedin.com/in/aaliya-bashir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8404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Atlanta, GA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Aaliya Bashir, MPA — Professional Portfolio</dc:title>
  <dc:subject>PptxGenJS Presentation</dc:subject>
  <dc:creator>Aaliya Bashir</dc:creator>
  <cp:lastModifiedBy>Aaliya Bashir</cp:lastModifiedBy>
  <cp:revision>1</cp:revision>
  <dcterms:created xsi:type="dcterms:W3CDTF">2026-05-27T01:01:09Z</dcterms:created>
  <dcterms:modified xsi:type="dcterms:W3CDTF">2026-05-27T01:01:09Z</dcterms:modified>
</cp:coreProperties>
</file>